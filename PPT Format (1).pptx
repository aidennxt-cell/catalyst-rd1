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3">
  <p:sldMasterIdLst>
    <p:sldMasterId id="2147483648" r:id="rId1"/>
  </p:sldMasterIdLst>
  <p:notesMasterIdLst>
    <p:notesMasterId r:id="rId11"/>
  </p:notesMasterIdLst>
  <p:sldIdLst>
    <p:sldId id="257" r:id="rId2"/>
    <p:sldId id="265" r:id="rId3"/>
    <p:sldId id="266" r:id="rId4"/>
    <p:sldId id="259" r:id="rId5"/>
    <p:sldId id="267" r:id="rId6"/>
    <p:sldId id="260" r:id="rId7"/>
    <p:sldId id="268" r:id="rId8"/>
    <p:sldId id="261" r:id="rId9"/>
    <p:sldId id="264" r:id="rId10"/>
  </p:sldIdLst>
  <p:sldSz cx="12192000" cy="6858000"/>
  <p:notesSz cx="6858000" cy="9144000"/>
  <p:embeddedFontLst>
    <p:embeddedFont>
      <p:font typeface="Play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eakZzaHWczK06A4z4dukalIGG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49BAB5-160C-4AB8-82B1-B0E9547F933C}">
  <a:tblStyle styleId="{AC49BAB5-160C-4AB8-82B1-B0E9547F933C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B2C42B1-D6DE-2EB4-F5AC-C8977A31F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3565674-DB0B-B2A6-D2C5-3E277AF90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7FE7D89E-D573-DE4D-969B-67C4D6A8E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6497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D07F79E3-16B7-6BFB-4CA0-D27E67B5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DD79B35-008E-B18F-CD1D-EE6B12A5C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BCD1614-6506-225D-48FA-4B11549C6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776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1041E876-E328-DF58-2835-577D374E5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E918E29-365D-5B17-98D6-00313F3C3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>
            <a:extLst>
              <a:ext uri="{FF2B5EF4-FFF2-40B4-BE49-F238E27FC236}">
                <a16:creationId xmlns:a16="http://schemas.microsoft.com/office/drawing/2014/main" id="{21254670-4154-8975-028A-FAB5AB3AB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852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784815E-9D72-6ECF-8E45-61EC42CF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4B8ABBC2-3825-4FDA-F52D-9EA722CA1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3B0F9583-C1C9-1261-1B8D-262C080F5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7171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523999" y="1563616"/>
            <a:ext cx="9144000" cy="1437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Catalyst</a:t>
            </a:r>
            <a:r>
              <a:rPr lang="en" dirty="0"/>
              <a:t> AI EcoSystem</a:t>
            </a:r>
            <a:endParaRPr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1524000" y="3205645"/>
            <a:ext cx="9144000" cy="541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</a:pPr>
            <a:r>
              <a:rPr lang="en-GB" dirty="0"/>
              <a:t>enables users and enterprises to run powerful AI completely offline, keeping all data private and under their control.</a:t>
            </a: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6498772" y="5429670"/>
            <a:ext cx="489227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000"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Sector: </a:t>
            </a:r>
            <a:r>
              <a:rPr lang="en-IN" dirty="0"/>
              <a:t>Deep Tech</a:t>
            </a:r>
            <a:endParaRPr dirty="0"/>
          </a:p>
        </p:txBody>
      </p:sp>
      <p:sp>
        <p:nvSpPr>
          <p:cNvPr id="94" name="Google Shape;94;p2"/>
          <p:cNvSpPr txBox="1"/>
          <p:nvPr/>
        </p:nvSpPr>
        <p:spPr>
          <a:xfrm>
            <a:off x="778615" y="5429670"/>
            <a:ext cx="4058653" cy="8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City: Guntur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State: </a:t>
            </a:r>
            <a:r>
              <a:rPr lang="en-GB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Andhara</a:t>
            </a:r>
            <a:r>
              <a:rPr lang="en-GB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Pradesh</a:t>
            </a:r>
          </a:p>
        </p:txBody>
      </p:sp>
      <p:pic>
        <p:nvPicPr>
          <p:cNvPr id="4" name="Picture 3" descr="A black and green logo&#10;&#10;AI-generated content may be incorrect.">
            <a:extLst>
              <a:ext uri="{FF2B5EF4-FFF2-40B4-BE49-F238E27FC236}">
                <a16:creationId xmlns:a16="http://schemas.microsoft.com/office/drawing/2014/main" id="{11F05D27-FFA5-31CC-1DE5-318A0A606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3445023-1DD8-98AA-6AF3-E442F0EC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4F9248CA-A2C6-FA43-ECA4-FCC8B6668F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2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 dirty="0"/>
              <a:t>Problem Solution Fit</a:t>
            </a:r>
            <a:endParaRPr dirty="0"/>
          </a:p>
        </p:txBody>
      </p:sp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6DEAA380-3D86-75B1-25A7-41C694280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0848" y="1723321"/>
            <a:ext cx="1112211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r>
              <a:rPr lang="en-GB" sz="1400" dirty="0"/>
              <a:t>Today’s AI systems are centralized personal and professional data is constantly uploaded to third-party servers.</a:t>
            </a:r>
            <a:br>
              <a:rPr lang="en-GB" sz="1400" dirty="0"/>
            </a:br>
            <a:r>
              <a:rPr lang="en-GB" sz="1400" dirty="0"/>
              <a:t>This creates massive </a:t>
            </a:r>
            <a:r>
              <a:rPr lang="en-GB" sz="1400" b="1" dirty="0"/>
              <a:t>privacy, security, and ownership risks</a:t>
            </a:r>
            <a:r>
              <a:rPr lang="en-GB" sz="1400" dirty="0"/>
              <a:t>, especially in sectors handling sensitive data like healthcare, law, and governance. Its can’t run offline, and lock users into proprietary ecosystems.</a:t>
            </a:r>
          </a:p>
          <a:p>
            <a:r>
              <a:rPr lang="en-GB" sz="1400" b="1" dirty="0"/>
              <a:t>Current Pain Points</a:t>
            </a:r>
          </a:p>
          <a:p>
            <a:r>
              <a:rPr lang="en-GB" sz="1400" dirty="0"/>
              <a:t>Data stored and processed in external clouds, risking leaks.</a:t>
            </a:r>
          </a:p>
          <a:p>
            <a:r>
              <a:rPr lang="en-GB" sz="1400" dirty="0"/>
              <a:t>Users have no control or visibility over how AI uses their data.</a:t>
            </a:r>
          </a:p>
          <a:p>
            <a:r>
              <a:rPr lang="en-GB" sz="1400" dirty="0"/>
              <a:t>AI assistants assume information instead of adapting to the individual.</a:t>
            </a:r>
          </a:p>
          <a:p>
            <a:pPr>
              <a:lnSpc>
                <a:spcPct val="100000"/>
              </a:lnSpc>
            </a:pPr>
            <a:r>
              <a:rPr lang="en-GB" sz="1400" dirty="0"/>
              <a:t>Internet dependency &amp; low rural accessibility.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GB" sz="1400" b="1" dirty="0"/>
              <a:t>Why This Matters</a:t>
            </a:r>
          </a:p>
          <a:p>
            <a:pPr>
              <a:lnSpc>
                <a:spcPct val="100000"/>
              </a:lnSpc>
            </a:pPr>
            <a:r>
              <a:rPr lang="en-GB" sz="1400" b="1" dirty="0"/>
              <a:t> </a:t>
            </a:r>
            <a:r>
              <a:rPr lang="en-GB" sz="1400" dirty="0"/>
              <a:t>70% of global users express privacy concerns with AI systems.</a:t>
            </a:r>
          </a:p>
          <a:p>
            <a:pPr>
              <a:lnSpc>
                <a:spcPct val="100000"/>
              </a:lnSpc>
            </a:pPr>
            <a:r>
              <a:rPr lang="en-GB" sz="1400" dirty="0"/>
              <a:t>80% of AI inference will move to edge devices by 2027.</a:t>
            </a:r>
          </a:p>
          <a:p>
            <a:pPr>
              <a:lnSpc>
                <a:spcPct val="100000"/>
              </a:lnSpc>
            </a:pPr>
            <a:r>
              <a:rPr lang="en-GB" sz="1400" dirty="0"/>
              <a:t>India’s AI market will exceed $20B by 2026, with growing demand for secure local AI.</a:t>
            </a:r>
          </a:p>
          <a:p>
            <a:pPr>
              <a:lnSpc>
                <a:spcPct val="100000"/>
              </a:lnSpc>
            </a:pPr>
            <a:r>
              <a:rPr lang="en-GB" sz="1400" dirty="0"/>
              <a:t>Data localization and privacy laws are accelerating the need for decentralized AI.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AADF516-B2DB-A0D6-6AEF-D8BF54CDAB5D}"/>
              </a:ext>
            </a:extLst>
          </p:cNvPr>
          <p:cNvSpPr txBox="1"/>
          <p:nvPr/>
        </p:nvSpPr>
        <p:spPr>
          <a:xfrm>
            <a:off x="875442" y="1171125"/>
            <a:ext cx="5410200" cy="66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sz="2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25FEA1-6D1A-BE83-68FE-0B93BC3C9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7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5305C57A-925D-B30E-5D89-B39F7152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FCD29071-4CF9-569E-1308-5C66D13DA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5442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 dirty="0"/>
              <a:t>Problem Solution Fit</a:t>
            </a:r>
            <a:endParaRPr dirty="0"/>
          </a:p>
        </p:txBody>
      </p:sp>
      <p:sp>
        <p:nvSpPr>
          <p:cNvPr id="103" name="Google Shape;103;p3">
            <a:extLst>
              <a:ext uri="{FF2B5EF4-FFF2-40B4-BE49-F238E27FC236}">
                <a16:creationId xmlns:a16="http://schemas.microsoft.com/office/drawing/2014/main" id="{C144E8B6-4CAE-A018-F059-B3CADEFDFA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0848" y="1723321"/>
            <a:ext cx="938791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GB" sz="1400" b="1" dirty="0"/>
              <a:t>Catalyst  </a:t>
            </a:r>
            <a:r>
              <a:rPr lang="en-GB" sz="1400" dirty="0"/>
              <a:t>decentralizes AI through </a:t>
            </a:r>
            <a:r>
              <a:rPr lang="en-GB" sz="1400" b="1" dirty="0"/>
              <a:t>Fog &amp; Edge computing</a:t>
            </a:r>
            <a:r>
              <a:rPr lang="en-GB" sz="1400" dirty="0"/>
              <a:t>, enabling intelligence to run </a:t>
            </a:r>
            <a:r>
              <a:rPr lang="en-GB" sz="1400" b="1" dirty="0"/>
              <a:t>directly on the user’s device</a:t>
            </a:r>
            <a:r>
              <a:rPr lang="en-GB" sz="1400" dirty="0"/>
              <a:t> or </a:t>
            </a:r>
            <a:r>
              <a:rPr lang="en-GB" sz="1400" b="1" dirty="0"/>
              <a:t>within local networks</a:t>
            </a:r>
            <a:r>
              <a:rPr lang="en-GB" sz="1400" dirty="0"/>
              <a:t>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GB" sz="1400" b="1" dirty="0"/>
              <a:t>Key Features &amp; Benefits:</a:t>
            </a:r>
            <a:endParaRPr lang="en-GB" sz="1400" dirty="0"/>
          </a:p>
          <a:p>
            <a:pPr>
              <a:lnSpc>
                <a:spcPct val="150000"/>
              </a:lnSpc>
            </a:pPr>
            <a:r>
              <a:rPr lang="en-GB" sz="1400" dirty="0"/>
              <a:t>Fully </a:t>
            </a:r>
            <a:r>
              <a:rPr lang="en-GB" sz="1400" b="1" dirty="0"/>
              <a:t>offline AI operation</a:t>
            </a:r>
            <a:r>
              <a:rPr lang="en-GB" sz="1400" dirty="0"/>
              <a:t> with very less cloud dependency.</a:t>
            </a:r>
          </a:p>
          <a:p>
            <a:pPr>
              <a:lnSpc>
                <a:spcPct val="150000"/>
              </a:lnSpc>
            </a:pPr>
            <a:r>
              <a:rPr lang="en-GB" sz="1400" b="1" dirty="0"/>
              <a:t>Learns only from user-provided data</a:t>
            </a:r>
            <a:r>
              <a:rPr lang="en-GB" sz="1400" dirty="0"/>
              <a:t> (no assumptions or external datasets).</a:t>
            </a:r>
          </a:p>
          <a:p>
            <a:pPr>
              <a:lnSpc>
                <a:spcPct val="150000"/>
              </a:lnSpc>
            </a:pPr>
            <a:r>
              <a:rPr lang="en-GB" sz="1400" b="1" dirty="0"/>
              <a:t>Data resides near the user</a:t>
            </a:r>
            <a:r>
              <a:rPr lang="en-GB" sz="1400" dirty="0"/>
              <a:t> , even Catalyst as a company can’t access it.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Works across devices through </a:t>
            </a:r>
            <a:r>
              <a:rPr lang="en-GB" sz="1400" b="1" dirty="0"/>
              <a:t>local sync and edge nodes</a:t>
            </a:r>
            <a:r>
              <a:rPr lang="en-GB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Adaptive, secure, and context-aware intelligence for personal and enterprise use.</a:t>
            </a:r>
          </a:p>
          <a:p>
            <a:pPr>
              <a:lnSpc>
                <a:spcPct val="150000"/>
              </a:lnSpc>
            </a:pPr>
            <a:r>
              <a:rPr lang="en-GB" sz="1400" b="1" dirty="0"/>
              <a:t>Unique Value Proposition:</a:t>
            </a:r>
            <a:endParaRPr lang="en-GB" sz="1400" dirty="0"/>
          </a:p>
          <a:p>
            <a:pPr>
              <a:lnSpc>
                <a:spcPct val="150000"/>
              </a:lnSpc>
            </a:pPr>
            <a:r>
              <a:rPr lang="en-GB" sz="1400" dirty="0"/>
              <a:t>A </a:t>
            </a:r>
            <a:r>
              <a:rPr lang="en-GB" sz="1400" b="1" dirty="0"/>
              <a:t>decentralized, privacy-first AI ecosystem</a:t>
            </a:r>
            <a:r>
              <a:rPr lang="en-GB" sz="1400" dirty="0"/>
              <a:t> that belongs to the user — accurate, personal, and completely offline.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5D96CDA-669F-63EF-8CEA-0FA0B05A36BE}"/>
              </a:ext>
            </a:extLst>
          </p:cNvPr>
          <p:cNvSpPr txBox="1"/>
          <p:nvPr/>
        </p:nvSpPr>
        <p:spPr>
          <a:xfrm>
            <a:off x="875442" y="1171125"/>
            <a:ext cx="5410200" cy="66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GB" sz="2400" dirty="0">
                <a:solidFill>
                  <a:schemeClr val="dk1"/>
                </a:solidFill>
              </a:rPr>
              <a:t>Solution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8C36A-181F-7D25-5A30-B67A8B1FE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89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Technology &amp; Innovation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A60E5-5CED-4852-0F8C-C6C2681E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  <p:sp>
        <p:nvSpPr>
          <p:cNvPr id="3" name="Google Shape;103;p3">
            <a:extLst>
              <a:ext uri="{FF2B5EF4-FFF2-40B4-BE49-F238E27FC236}">
                <a16:creationId xmlns:a16="http://schemas.microsoft.com/office/drawing/2014/main" id="{E9161285-DAA0-6779-6AED-16F4AE870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0848" y="1723321"/>
            <a:ext cx="938791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Technology</a:t>
            </a:r>
            <a:endParaRPr lang="en-IN" sz="1500" b="1" i="1" dirty="0">
              <a:solidFill>
                <a:schemeClr val="tx1"/>
              </a:solidFill>
              <a:effectLst/>
              <a:latin typeface="Aptos" panose="020B000402020202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Hardware: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Catalyst RD1 Device — Qualcomm Edge SoC, LPDDR5 RAM, UFS 3.1 Storage, E-Ink Display.</a:t>
            </a:r>
            <a:b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AI Stack: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Quantized Local LLMs (Llama 3.2, SmolLM2), ONNX Runtime, </a:t>
            </a:r>
            <a:r>
              <a:rPr lang="en-US" sz="1500" dirty="0" err="1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TensorRT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.</a:t>
            </a:r>
            <a:b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Software: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Catalyst OS + SDK for local model control and edge deployment.</a:t>
            </a:r>
            <a:b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Security: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Encrypted local storage; peer-to-peer Fog sync; zero external data flow.</a:t>
            </a:r>
          </a:p>
          <a:p>
            <a:pPr marL="0" lvl="0" indent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None/>
            </a:pP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Innovation Differentiators</a:t>
            </a:r>
            <a:endParaRPr lang="en-IN" sz="1500" b="1" i="1" dirty="0">
              <a:solidFill>
                <a:schemeClr val="tx1"/>
              </a:solidFill>
              <a:effectLst/>
              <a:latin typeface="Aptos" panose="020B000402020202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AI that </a:t>
            </a: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runs entirely offline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, learns privately, and self-optimizes locally.</a:t>
            </a:r>
            <a:b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Predicts only from </a:t>
            </a: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user inputs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— no preloaded bias or assumption.</a:t>
            </a:r>
            <a:b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Modular </a:t>
            </a: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Fog + Edge architecture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for scalable deployment.</a:t>
            </a:r>
            <a:b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 indent="-34290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Zero-interface concept</a:t>
            </a:r>
            <a:r>
              <a:rPr lang="en-US" sz="15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— AI acts as the interface itself, generating task-based UIs on demand.</a:t>
            </a:r>
            <a:endParaRPr lang="en-IN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114300" indent="0">
              <a:lnSpc>
                <a:spcPct val="100000"/>
              </a:lnSpc>
              <a:buNone/>
            </a:pPr>
            <a:endParaRPr lang="en-IN" sz="15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4AE95E2E-277F-2AA3-5ED5-F3036322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0754058-C3AE-9EF6-FA54-578AC81DEE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Technology &amp; Innovation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F42645-BEC1-DCDF-16EA-164E4A75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  <p:sp>
        <p:nvSpPr>
          <p:cNvPr id="3" name="Google Shape;103;p3">
            <a:extLst>
              <a:ext uri="{FF2B5EF4-FFF2-40B4-BE49-F238E27FC236}">
                <a16:creationId xmlns:a16="http://schemas.microsoft.com/office/drawing/2014/main" id="{4CABF419-FE06-477E-5BE9-D8AC57AC4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0848" y="1723321"/>
            <a:ext cx="938791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Scalability Roadmap</a:t>
            </a:r>
            <a:endParaRPr lang="en-IN" sz="1500" b="1" i="1" dirty="0">
              <a:solidFill>
                <a:schemeClr val="tx1"/>
              </a:solidFill>
              <a:latin typeface="Aptos" panose="020B000402020202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Phase 1:</a:t>
            </a:r>
            <a: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Launch Catalyst AI Software Suite (SaaS).</a:t>
            </a:r>
            <a:b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Phase 2:</a:t>
            </a:r>
            <a: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OEM integration with enterprise and third-party devices.</a:t>
            </a:r>
            <a:b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b="1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Phase 3:</a:t>
            </a:r>
            <a: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 Launch Catalyst RD1 Hardware for consumers.</a:t>
            </a: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endParaRPr lang="en-IN" sz="15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Competitive Advantage</a:t>
            </a:r>
            <a:endParaRPr lang="en-IN" sz="1500" b="1" i="1" dirty="0">
              <a:solidFill>
                <a:schemeClr val="tx1"/>
              </a:solidFill>
              <a:latin typeface="Aptos" panose="020B000402020202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Cloud-free operation → unmatched privacy and uptime.</a:t>
            </a:r>
            <a:b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User-owned data → total control and compliance with privacy laws.</a:t>
            </a:r>
            <a:b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</a:br>
            <a:endParaRPr lang="en-IN" sz="15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  <a:p>
            <a:pPr marL="342900" lvl="0">
              <a:lnSpc>
                <a:spcPct val="100000"/>
              </a:lnSpc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1500" dirty="0">
                <a:solidFill>
                  <a:schemeClr val="tx1"/>
                </a:solidFill>
                <a:latin typeface="Aptos" panose="020B0004020202020204" pitchFamily="34" charset="0"/>
                <a:ea typeface="Aptos" panose="020B0004020202020204" pitchFamily="34" charset="0"/>
                <a:cs typeface="Symbol" panose="05050102010706020507" pitchFamily="18" charset="2"/>
              </a:rPr>
              <a:t>Edge-based architecture → low latency and higher security.</a:t>
            </a:r>
            <a:endParaRPr lang="en-IN" sz="1500" dirty="0">
              <a:solidFill>
                <a:schemeClr val="tx1"/>
              </a:solidFill>
              <a:latin typeface="Aptos" panose="020B0004020202020204" pitchFamily="34" charset="0"/>
              <a:ea typeface="Aptos" panose="020B0004020202020204" pitchFamily="34" charset="0"/>
              <a:cs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9283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Market Opportunity &amp; Scalability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74897-BE92-8119-9CE0-47654A57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DDA9ED-C50A-81A6-FBCE-814E06DA9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25376"/>
              </p:ext>
            </p:extLst>
          </p:nvPr>
        </p:nvGraphicFramePr>
        <p:xfrm>
          <a:off x="838200" y="2632842"/>
          <a:ext cx="10515600" cy="1734212"/>
        </p:xfrm>
        <a:graphic>
          <a:graphicData uri="http://schemas.openxmlformats.org/drawingml/2006/table">
            <a:tbl>
              <a:tblPr firstRow="1" bandRow="1" bandCol="1">
                <a:tableStyleId>{AC49BAB5-160C-4AB8-82B1-B0E9547F933C}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14553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083296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2208102"/>
                    </a:ext>
                  </a:extLst>
                </a:gridCol>
              </a:tblGrid>
              <a:tr h="43355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Segment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Growth (CAGR)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Opportunity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25068196"/>
                  </a:ext>
                </a:extLst>
              </a:tr>
              <a:tr h="43355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Edge AI Hardware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24%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$70B+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6003884"/>
                  </a:ext>
                </a:extLst>
              </a:tr>
              <a:tr h="43355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 Privacy Tools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30%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$18B+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8805123"/>
                  </a:ext>
                </a:extLst>
              </a:tr>
              <a:tr h="433553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Indian Consumer Tech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11%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$125B by 2026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798996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0299B44-1019-BA81-5B6F-AC5A57741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4613390"/>
            <a:ext cx="8729242" cy="106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2539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ClrTx/>
              <a:buSzTx/>
              <a:buNone/>
            </a:pPr>
            <a:r>
              <a:rPr lang="en-US" altLang="en-US" sz="1600" b="1" i="1" dirty="0">
                <a:solidFill>
                  <a:srgbClr val="0F4761"/>
                </a:solidFill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I</a:t>
            </a:r>
            <a:r>
              <a:rPr lang="en-US" altLang="en-US" sz="1600" b="1" i="1" dirty="0" bmk="">
                <a:solidFill>
                  <a:srgbClr val="0F4761"/>
                </a:solidFill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ndustry Trends</a:t>
            </a:r>
            <a:endParaRPr lang="en-US" altLang="en-US" sz="1600" i="1" dirty="0">
              <a:solidFill>
                <a:srgbClr val="0F4761"/>
              </a:solidFill>
              <a:latin typeface="Aptos" panose="020B000402020202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US" altLang="en-US" sz="1600" dirty="0" bmk="industry-trends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Rapid shift to on-device AI for privacy and efficiency.</a:t>
            </a:r>
            <a:endParaRPr lang="en-US" altLang="en-US" sz="1600" dirty="0" bmk="industry-trends"/>
          </a:p>
          <a:p>
            <a:pPr marL="0" lvl="0" indent="0">
              <a:lnSpc>
                <a:spcPct val="100000"/>
              </a:lnSpc>
              <a:buClrTx/>
              <a:buSzTx/>
              <a:buFontTx/>
              <a:buChar char="•"/>
            </a:pPr>
            <a:r>
              <a:rPr lang="en-US" altLang="en-US" sz="1600" dirty="0" bmk="industry-trends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Global movement toward decentralized and regulatory-compliant data models.</a:t>
            </a:r>
            <a:endParaRPr lang="en-US" alt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A1DEDD2B-DE9A-907C-733A-2D8C2A4F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358F1041-7A71-CA26-0D29-1DE589EEF5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Market Opportunity &amp; Scalability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D1C9B0-04C3-2846-3F18-9FAB18254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76D3F-57EC-279C-2850-8EF2BA8A1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/>
              <a:t>Competitor Snapshot</a:t>
            </a:r>
            <a:endParaRPr lang="en-IN" b="1" i="1" dirty="0"/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C902C3-F804-4C55-C2B0-29694936A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048378"/>
              </p:ext>
            </p:extLst>
          </p:nvPr>
        </p:nvGraphicFramePr>
        <p:xfrm>
          <a:off x="1634358" y="3060092"/>
          <a:ext cx="8313684" cy="1803568"/>
        </p:xfrm>
        <a:graphic>
          <a:graphicData uri="http://schemas.openxmlformats.org/drawingml/2006/table">
            <a:tbl>
              <a:tblPr firstRow="1" bandRow="1" bandCol="1">
                <a:tableStyleId>{AC49BAB5-160C-4AB8-82B1-B0E9547F933C}</a:tableStyleId>
              </a:tblPr>
              <a:tblGrid>
                <a:gridCol w="2771228">
                  <a:extLst>
                    <a:ext uri="{9D8B030D-6E8A-4147-A177-3AD203B41FA5}">
                      <a16:colId xmlns:a16="http://schemas.microsoft.com/office/drawing/2014/main" val="3726945119"/>
                    </a:ext>
                  </a:extLst>
                </a:gridCol>
                <a:gridCol w="2771228">
                  <a:extLst>
                    <a:ext uri="{9D8B030D-6E8A-4147-A177-3AD203B41FA5}">
                      <a16:colId xmlns:a16="http://schemas.microsoft.com/office/drawing/2014/main" val="2110241841"/>
                    </a:ext>
                  </a:extLst>
                </a:gridCol>
                <a:gridCol w="2771228">
                  <a:extLst>
                    <a:ext uri="{9D8B030D-6E8A-4147-A177-3AD203B41FA5}">
                      <a16:colId xmlns:a16="http://schemas.microsoft.com/office/drawing/2014/main" val="1357169711"/>
                    </a:ext>
                  </a:extLst>
                </a:gridCol>
              </a:tblGrid>
              <a:tr h="45089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Competitor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Limitation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6859145"/>
                  </a:ext>
                </a:extLst>
              </a:tr>
              <a:tr h="45089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Rabbit R1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Cloud-based AI device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Internet required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870299"/>
                  </a:ext>
                </a:extLst>
              </a:tr>
              <a:tr h="45089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Humane AI Pin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Cloud-dependent OS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Privacy concerns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1211755"/>
                  </a:ext>
                </a:extLst>
              </a:tr>
              <a:tr h="45089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Catalyst RD1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Offline Edge AI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Fully local, user-owned data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664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74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Business Model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2C590A-6EB9-A64D-6986-94212052B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  <p:sp>
        <p:nvSpPr>
          <p:cNvPr id="3" name="Google Shape;103;p3">
            <a:extLst>
              <a:ext uri="{FF2B5EF4-FFF2-40B4-BE49-F238E27FC236}">
                <a16:creationId xmlns:a16="http://schemas.microsoft.com/office/drawing/2014/main" id="{4373DC29-F16C-7AEE-6B65-9806972BD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8790" y="3492491"/>
            <a:ext cx="9387911" cy="30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500" b="1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Customer Acquisition Strategy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500" b="1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•</a:t>
            </a:r>
            <a:r>
              <a:rPr lang="en-GB" sz="1500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	B2C: Direct digital channels and community-based onboarding.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500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•	B2B: Enterprise partnerships in healthcare, law, and education.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500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•	OEM: Collaborations with hardware manufacturers.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500" b="1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Target Customers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500" i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Enterprises, institutions, and privacy-conscious individuals seeking offline, personalized AI.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F831E6-7341-E97C-CCCE-B9219B0BD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739798"/>
              </p:ext>
            </p:extLst>
          </p:nvPr>
        </p:nvGraphicFramePr>
        <p:xfrm>
          <a:off x="998790" y="1690688"/>
          <a:ext cx="7478110" cy="1524598"/>
        </p:xfrm>
        <a:graphic>
          <a:graphicData uri="http://schemas.openxmlformats.org/drawingml/2006/table">
            <a:tbl>
              <a:tblPr firstRow="1" bandRow="1" bandCol="1">
                <a:tableStyleId>{AC49BAB5-160C-4AB8-82B1-B0E9547F933C}</a:tableStyleId>
              </a:tblPr>
              <a:tblGrid>
                <a:gridCol w="1869528">
                  <a:extLst>
                    <a:ext uri="{9D8B030D-6E8A-4147-A177-3AD203B41FA5}">
                      <a16:colId xmlns:a16="http://schemas.microsoft.com/office/drawing/2014/main" val="4220066707"/>
                    </a:ext>
                  </a:extLst>
                </a:gridCol>
                <a:gridCol w="2492703">
                  <a:extLst>
                    <a:ext uri="{9D8B030D-6E8A-4147-A177-3AD203B41FA5}">
                      <a16:colId xmlns:a16="http://schemas.microsoft.com/office/drawing/2014/main" val="2030729710"/>
                    </a:ext>
                  </a:extLst>
                </a:gridCol>
                <a:gridCol w="3115879">
                  <a:extLst>
                    <a:ext uri="{9D8B030D-6E8A-4147-A177-3AD203B41FA5}">
                      <a16:colId xmlns:a16="http://schemas.microsoft.com/office/drawing/2014/main" val="2492926027"/>
                    </a:ext>
                  </a:extLst>
                </a:gridCol>
              </a:tblGrid>
              <a:tr h="92944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Revenue Stream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20482395"/>
                  </a:ext>
                </a:extLst>
              </a:tr>
              <a:tr h="4911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SaaS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Catalyst AI Suite for individuals &amp; developers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Subscriptions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181866"/>
                  </a:ext>
                </a:extLst>
              </a:tr>
              <a:tr h="35937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OEM / White Label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Integration with partner devices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Licensing Fees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6122372"/>
                  </a:ext>
                </a:extLst>
              </a:tr>
              <a:tr h="491170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IaaS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Private AI infrastructure for enterprises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Edge deployment &amp; service contracts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43946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GB"/>
              <a:t>Founding Team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9B0A22-6436-3B63-15F5-99289A200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360" y="208612"/>
            <a:ext cx="2008682" cy="720327"/>
          </a:xfrm>
          <a:prstGeom prst="rect">
            <a:avLst/>
          </a:prstGeom>
        </p:spPr>
      </p:pic>
      <p:sp>
        <p:nvSpPr>
          <p:cNvPr id="12" name="Google Shape;103;p3">
            <a:extLst>
              <a:ext uri="{FF2B5EF4-FFF2-40B4-BE49-F238E27FC236}">
                <a16:creationId xmlns:a16="http://schemas.microsoft.com/office/drawing/2014/main" id="{C2FBE089-2624-693F-3186-4AA9156E8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0848" y="1723321"/>
            <a:ext cx="1068068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Chava Veera Bhadra Dheeraj (Founder &amp; CEO)</a:t>
            </a:r>
            <a:b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Leads Operations and Business Strategy with a focus on decentralized AI ecosystems, Fog + Edge infrastructure, and next-generation product innovation.</a:t>
            </a:r>
            <a:endParaRPr lang="en-IN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 Team:</a:t>
            </a:r>
            <a:b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Sasank P — AI Engineer &amp; Device Designer (Tech Team Lead)</a:t>
            </a:r>
            <a:b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Specializes in AI model optimization and hardware design for Catalyst RD1 and enterprise systems.</a:t>
            </a:r>
            <a:b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Shanmukha Rishi &amp; Mani Surya — AI Engineers (Tech Team)</a:t>
            </a:r>
            <a:b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Jointly responsible for model integration, adaptive learning systems, and secure local deployments.</a:t>
            </a:r>
            <a:endParaRPr lang="en-IN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786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Symbol</vt:lpstr>
      <vt:lpstr>Aptos</vt:lpstr>
      <vt:lpstr>Play</vt:lpstr>
      <vt:lpstr>Office Theme</vt:lpstr>
      <vt:lpstr>Catalyst AI EcoSystem</vt:lpstr>
      <vt:lpstr>Problem Solution Fit</vt:lpstr>
      <vt:lpstr>Problem Solution Fit</vt:lpstr>
      <vt:lpstr>Technology &amp; Innovation</vt:lpstr>
      <vt:lpstr>Technology &amp; Innovation</vt:lpstr>
      <vt:lpstr>Market Opportunity &amp; Scalability</vt:lpstr>
      <vt:lpstr>Market Opportunity &amp; Scalability</vt:lpstr>
      <vt:lpstr>Business Model</vt:lpstr>
      <vt:lpstr>Founding 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Bhuvaneshwari Nagarajan</dc:creator>
  <cp:lastModifiedBy>Veera Bhadra Dheeraj Chava</cp:lastModifiedBy>
  <cp:revision>4</cp:revision>
  <dcterms:created xsi:type="dcterms:W3CDTF">2025-08-27T07:07:06Z</dcterms:created>
  <dcterms:modified xsi:type="dcterms:W3CDTF">2025-11-06T18:42:55Z</dcterms:modified>
</cp:coreProperties>
</file>